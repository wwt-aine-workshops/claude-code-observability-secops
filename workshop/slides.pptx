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00000000-0000-4000-8000-000000000005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00000-0000-4000-8000-000000000001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00000-0000-4000-8000-000000000002}" type="slidenum">
              <a:rPr lang="en-US"/>
              <a:t>‹#›</a:t>
            </a:fld>
            <a:endParaRPr lang="en-US"/>
          </a:p>
        </p:txBody>
      </p:sp>
    </p:spTree>
    <p:extLst>
      <p:ext uri="{00000000-0000-4000-8000-000000000003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Foundations for Claude Code: SecOps Edition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every action a coding agent takes, catch the risky ones, and cut it off at one control point.</a:t>
            </a:r>
            <a:endParaRPr lang="en-US" sz="2200" dirty="0"/>
          </a:p>
        </p:txBody>
      </p:sp>
      <p:pic>
        <p:nvPicPr>
          <p:cNvPr id="4" name="Image 0" descr="World Wide Technolog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78606"/>
            <a:ext cx="2194560" cy="6221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3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525512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Clock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Minutes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AI-Native Engineering at WWT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visibility and control matter for agents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0:15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1: Who is the agent acting as?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0:55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2: From event to detection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1:35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1:40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3: agentgateway as the control point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2:20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Wrap-up and questions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7259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Engineering (AINE) is WWT's discipline for integrating AI </a:t>
            </a:r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006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deeply and deliberately</a:t>
            </a:r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every phase of the software development lifecycle, not a plugin bolted onto an existing tool, but a change to how software gets planned, designed, built, tested, secured, and operated, spanning </a:t>
            </a:r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platform, workflow, operating model, and services</a:t>
            </a:r>
            <a:pPr algn="l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5257800"/>
            <a:ext cx="508406" cy="38405"/>
          </a:xfrm>
          <a:prstGeom prst="roundRect">
            <a:avLst>
              <a:gd name="adj" fmla="val 50000"/>
            </a:avLst>
          </a:prstGeom>
          <a:solidFill>
            <a:srgbClr val="006DC7"/>
          </a:solidFill>
          <a:ln/>
        </p:spPr>
      </p:sp>
      <p:sp>
        <p:nvSpPr>
          <p:cNvPr id="5" name="Shape 3"/>
          <p:cNvSpPr/>
          <p:nvPr/>
        </p:nvSpPr>
        <p:spPr>
          <a:xfrm>
            <a:off x="1341425" y="5257800"/>
            <a:ext cx="508406" cy="38405"/>
          </a:xfrm>
          <a:prstGeom prst="roundRect">
            <a:avLst>
              <a:gd name="adj" fmla="val 50000"/>
            </a:avLst>
          </a:prstGeom>
          <a:solidFill>
            <a:srgbClr val="162FB4"/>
          </a:solidFill>
          <a:ln/>
        </p:spPr>
      </p:sp>
      <p:sp>
        <p:nvSpPr>
          <p:cNvPr id="6" name="Shape 4"/>
          <p:cNvSpPr/>
          <p:nvPr/>
        </p:nvSpPr>
        <p:spPr>
          <a:xfrm>
            <a:off x="1951330" y="5257800"/>
            <a:ext cx="508406" cy="38405"/>
          </a:xfrm>
          <a:prstGeom prst="roundRect">
            <a:avLst>
              <a:gd name="adj" fmla="val 50000"/>
            </a:avLst>
          </a:prstGeom>
          <a:solidFill>
            <a:srgbClr val="8212C4"/>
          </a:solidFill>
          <a:ln/>
        </p:spPr>
      </p:sp>
      <p:pic>
        <p:nvPicPr>
          <p:cNvPr id="7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phases, four pillars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1828800"/>
            <a:ext cx="18288" cy="38404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1645920"/>
            <a:ext cx="5029200" cy="3995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Traditional SDLC</a:t>
            </a:r>
            <a:endParaRPr lang="en-US" sz="2600" dirty="0"/>
          </a:p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Plan</a:t>
            </a:r>
            <a:endParaRPr lang="en-US" sz="2600" dirty="0"/>
          </a:p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Requirements &amp; Design</a:t>
            </a:r>
            <a:endParaRPr lang="en-US" sz="2600" dirty="0"/>
          </a:p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Build</a:t>
            </a:r>
            <a:endParaRPr lang="en-US" sz="2600" dirty="0"/>
          </a:p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Test</a:t>
            </a:r>
            <a:endParaRPr lang="en-US" sz="2600" dirty="0"/>
          </a:p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Secure &amp; Release</a:t>
            </a:r>
            <a:endParaRPr lang="en-US" sz="26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6: Operate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30975" y="1645920"/>
            <a:ext cx="5029200" cy="2583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pillars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&amp; Design differently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Test differently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differently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 differently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31520" y="5897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deliberately combines "Secure" and "Release". WWT treats security as inseparable from shipping, not a bolt-on step at the end.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PATHWAY TO AI-NATIVE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maturity curve, not a checklist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145182" cy="2497112"/>
          </a:xfrm>
          <a:prstGeom prst="rect">
            <a:avLst/>
          </a:prstGeom>
          <a:solidFill>
            <a:srgbClr val="E4EE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 of AI, but with little direction or only untracked trial efforts.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consistent adoption; needs WWT guidance to define a path forward.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76702" y="2194560"/>
            <a:ext cx="2145182" cy="2497112"/>
          </a:xfrm>
          <a:prstGeom prst="rect">
            <a:avLst/>
          </a:prstGeom>
          <a:solidFill>
            <a:srgbClr val="99CFF7"/>
          </a:solidFill>
          <a:ln/>
        </p:spPr>
      </p:sp>
      <p:sp>
        <p:nvSpPr>
          <p:cNvPr id="10" name="Text 8"/>
          <p:cNvSpPr/>
          <p:nvPr/>
        </p:nvSpPr>
        <p:spPr>
          <a:xfrm>
            <a:off x="3059582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59582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59582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use AI coding tools inside their existing workflow.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59582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does the work; AI is a suggestion engine.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1885" y="2194560"/>
            <a:ext cx="2145182" cy="2497112"/>
          </a:xfrm>
          <a:prstGeom prst="rect">
            <a:avLst/>
          </a:prstGeom>
          <a:solidFill>
            <a:srgbClr val="006DC7"/>
          </a:solidFill>
          <a:ln/>
        </p:spPr>
      </p:sp>
      <p:sp>
        <p:nvSpPr>
          <p:cNvPr id="15" name="Text 13"/>
          <p:cNvSpPr/>
          <p:nvPr/>
        </p:nvSpPr>
        <p:spPr>
          <a:xfrm>
            <a:off x="5204765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04765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AI-Integrated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04765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tooling is formally adopted and wired into standard workflows.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04765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standard part of the toolchain; humans still direct each task.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67067" y="2194560"/>
            <a:ext cx="2145182" cy="2497112"/>
          </a:xfrm>
          <a:prstGeom prst="rect">
            <a:avLst/>
          </a:prstGeom>
          <a:solidFill>
            <a:srgbClr val="162FB4"/>
          </a:solidFill>
          <a:ln/>
        </p:spPr>
      </p:sp>
      <p:sp>
        <p:nvSpPr>
          <p:cNvPr id="20" name="Text 18"/>
          <p:cNvSpPr/>
          <p:nvPr/>
        </p:nvSpPr>
        <p:spPr>
          <a:xfrm>
            <a:off x="7349947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49947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Augmented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49947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 take on multi-step tasks end-to-end.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49947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execute multi-step work; humans supervise and hold quality/security gates.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12250" y="2194560"/>
            <a:ext cx="2145182" cy="2497112"/>
          </a:xfrm>
          <a:prstGeom prst="rect">
            <a:avLst/>
          </a:prstGeom>
          <a:solidFill>
            <a:srgbClr val="8212C4"/>
          </a:solidFill>
          <a:ln/>
        </p:spPr>
      </p:sp>
      <p:sp>
        <p:nvSpPr>
          <p:cNvPr id="25" name="Text 23"/>
          <p:cNvSpPr/>
          <p:nvPr/>
        </p:nvSpPr>
        <p:spPr>
          <a:xfrm>
            <a:off x="9495130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95130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95130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the primary producer across the full SDLC.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95130" y="3861283"/>
            <a:ext cx="1779422" cy="60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set intent and verify outcomes; AI (multi-agent) produces.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965992"/>
            <a:ext cx="10058400" cy="886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spectrum most organizations are somewhere along. A team can sit at any stage while running any SDLC methodology.</a:t>
            </a:r>
            <a:endParaRPr lang="en-US" sz="1600" dirty="0"/>
          </a:p>
        </p:txBody>
      </p:sp>
      <p:pic>
        <p:nvPicPr>
          <p:cNvPr id="30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99CFF7">
                  <a:alpha val="28000"/>
                </a:srgbClr>
              </a:gs>
              <a:gs pos="60000">
                <a:srgbClr val="CBC0DA">
                  <a:alpha val="10000"/>
                </a:srgbClr>
              </a:gs>
              <a:gs pos="100000">
                <a:srgbClr val="FFFFFF"/>
              </a:gs>
            </a:gsLst>
            <a:path path="circle">
              <a:fillToRect l="50000" t="100000" r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31520" y="260604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162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ENGINEERING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plugin. A change to how software gets built.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81304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AI-Aware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AI-Integrated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Augmented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A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</a:t>
            </a:r>
            <a:endParaRPr lang="en-US" sz="1400" dirty="0"/>
          </a:p>
        </p:txBody>
      </p:sp>
      <p:pic>
        <p:nvPicPr>
          <p:cNvPr id="6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securing Stage 3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9052"/>
                <a:gridCol w="1559052"/>
                <a:gridCol w="1559052"/>
                <a:gridCol w="1559052"/>
                <a:gridCol w="1559052"/>
                <a:gridCol w="15590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Req. &amp; Design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&amp; Release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64008" marB="64008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AI-Assisted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helps draft a doc a human owns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summarizes and sketches options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code completion in the editor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generates test cases on request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flags common vulnerabilities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helps diagnose incidents from logs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AI-Integrated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is standard for scoping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 generate design options each review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codegen is wired in and expected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generation runs in CI per PR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scan is a release gate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monitoring and alerting is standard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4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Agent Augmented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drafts and scores plans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drafts designs; architects approve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submit features; engineers merge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writes, runs and triages tests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reviews security; humans hold the gate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triages incidents; engineers approve fixes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AI-Native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prioritizes; human approves intent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turn intent into design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build in parallel; humans verify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test and self-correct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own compliance and deploys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monitor and tune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answering to acting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1828800"/>
            <a:ext cx="18288" cy="38404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1645920"/>
            <a:ext cx="5029200" cy="2507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assistants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text for a person to read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decides what happens next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bad advice, data typed into a prompt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30975" y="1645920"/>
            <a:ext cx="5029200" cy="2908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agents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commands, edit files, call APIs and MCP tools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many actions from one instruction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the agent itself is the actor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31520" y="5897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software acts on its own, the question moves from what it said to what it did.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is a new kind of insider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07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as the developer, with the developer's own credentials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Executes: shell commands, file edits, web fetches, MCP calls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instructions from content the developer never reads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faster than any person can review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GOVERNANCE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and control, in one loop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145182" cy="1895323"/>
          </a:xfrm>
          <a:prstGeom prst="rect">
            <a:avLst/>
          </a:prstGeom>
          <a:solidFill>
            <a:srgbClr val="E4EE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from every session and every model request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76702" y="2194560"/>
            <a:ext cx="2145182" cy="1895323"/>
          </a:xfrm>
          <a:prstGeom prst="rect">
            <a:avLst/>
          </a:prstGeom>
          <a:solidFill>
            <a:srgbClr val="99CFF7"/>
          </a:solidFill>
          <a:ln/>
        </p:spPr>
      </p:sp>
      <p:sp>
        <p:nvSpPr>
          <p:cNvPr id="9" name="Text 7"/>
          <p:cNvSpPr/>
          <p:nvPr/>
        </p:nvSpPr>
        <p:spPr>
          <a:xfrm>
            <a:off x="3059582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59582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59582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rules on risky actions and escalations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1885" y="2194560"/>
            <a:ext cx="2145182" cy="1895323"/>
          </a:xfrm>
          <a:prstGeom prst="rect">
            <a:avLst/>
          </a:prstGeom>
          <a:solidFill>
            <a:srgbClr val="006DC7"/>
          </a:solidFill>
          <a:ln/>
        </p:spPr>
      </p:sp>
      <p:sp>
        <p:nvSpPr>
          <p:cNvPr id="13" name="Text 11"/>
          <p:cNvSpPr/>
          <p:nvPr/>
        </p:nvSpPr>
        <p:spPr>
          <a:xfrm>
            <a:off x="5204765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04765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04765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owners set what's allowed, asked or denied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67067" y="2194560"/>
            <a:ext cx="2145182" cy="1895323"/>
          </a:xfrm>
          <a:prstGeom prst="rect">
            <a:avLst/>
          </a:prstGeom>
          <a:solidFill>
            <a:srgbClr val="162FB4"/>
          </a:solidFill>
          <a:ln/>
        </p:spPr>
      </p:sp>
      <p:sp>
        <p:nvSpPr>
          <p:cNvPr id="17" name="Text 15"/>
          <p:cNvSpPr/>
          <p:nvPr/>
        </p:nvSpPr>
        <p:spPr>
          <a:xfrm>
            <a:off x="7349947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49947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49947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Gateway, permission rules, hooks and managed settings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12250" y="2194560"/>
            <a:ext cx="2145182" cy="1895323"/>
          </a:xfrm>
          <a:prstGeom prst="rect">
            <a:avLst/>
          </a:prstGeom>
          <a:solidFill>
            <a:srgbClr val="8212C4"/>
          </a:solidFill>
          <a:ln/>
        </p:spPr>
      </p:sp>
      <p:sp>
        <p:nvSpPr>
          <p:cNvPr id="21" name="Text 19"/>
          <p:cNvSpPr/>
          <p:nvPr/>
        </p:nvSpPr>
        <p:spPr>
          <a:xfrm>
            <a:off x="9495130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495130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95130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proves the controls fired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364203"/>
            <a:ext cx="10058400" cy="1487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without control is a record of what went wrong. Control without visibility is guesswork.</a:t>
            </a:r>
            <a:endParaRPr lang="en-US" sz="1600" dirty="0"/>
          </a:p>
        </p:txBody>
      </p:sp>
      <p:pic>
        <p:nvPicPr>
          <p:cNvPr id="2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must answer in an incident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5362956"/>
                <a:gridCol w="536295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the answer comes from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user.email, organization ID, session.id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exact commands, file paths and MCP tools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When, and in what order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event.timestamp and event.sequence, per prompt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data went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WebFetch URLs, curl destinations, MCP servers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 it blocked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tool_decision source: config, hook or user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Blast radius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session and prompt for that user or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pieces fit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1828800"/>
            <a:ext cx="18288" cy="38404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1645920"/>
            <a:ext cx="5029200" cy="3309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sends events, metrics and traces over OTLP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Collector receives, redacts, filters and routes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SIEM for security, LGTM for operations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30975" y="1645920"/>
            <a:ext cx="5029200" cy="2507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Collector is a control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 credentials before anything stores them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only security events to the SIEM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sample the audit path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31520" y="5897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 is the transport and the schema. It stores nothing and alerts on nothing.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depends on how the agent authenticates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3575304"/>
                <a:gridCol w="357530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Sign-in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 on every event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to 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account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user.email, account and organization IDs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 extra. Best default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API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user.id and session.id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enduser.id per user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Bedrock, Agent Platform, Foundry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user.id and session.id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enduser.id per user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 virtual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key's owner, at the gateway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 key metadata to a person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 identity gap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1737360"/>
            <a:ext cx="10725912" cy="40233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05840" y="1920240"/>
            <a:ext cx="101772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"env": {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"CLAUDE_CODE_ENABLE_TELEMETRY": "1",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"OTEL_LOGS_EXPORTER": "otlp",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"OTEL_LOG_TOOL_DETAILS": "1",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"OTEL_EXPORTER_OTLP_PROTOCOL": "http/protobuf",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"OTEL_EXPORTER_OTLP_ENDPOINT": "https://otel.example.com:4318",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"OTEL_RESOURCE_ATTRIBUTES": "enduser.id=jdoe@example.com"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1: Who is the agent acting as?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workshop/labs/01-lab-1.md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LGTM stack, turn telemetry on, run one prompt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own events in Loki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an API key, watch the identity disappear, fix it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post your enduser_id value in the chat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security events, and the gates on content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1828800"/>
            <a:ext cx="18288" cy="38404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1645920"/>
            <a:ext cx="5029200" cy="3831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with identity on every one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tool_decision: every allow or deny, and who decided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tool_result and permission_mode_changed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server, plugin and policy hook events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30975" y="1645920"/>
            <a:ext cx="5029200" cy="3309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gates, off by default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TOOL_DETAILS: commands and paths. Turn it on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USER_PROMPTS and TOOL_CONTENT: a privacy decision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RAW_API_BODIES: everything. Avoid it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31520" y="5897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tool details, MCP tools show only as mcp_tool and commands are missing.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starter pack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3575304"/>
                <a:gridCol w="357530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Logic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 Escalation to bypass mode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permission_mode_changed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to_mode is bypassPermissions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 Exfiltration-shaped command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tool_decision, tool_result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curl or wget with an upload flag, or nc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 Secret file access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tool_result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.env, id_rsa, .aws, .pem in the path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D4 and D5 Unvetted extensions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mcp_server_connection, plugin_installed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 not allowlisted, or unofficial marketplace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D6 Guardrail block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hook_execution_complete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 hook that blocked a tool call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D7 Blocked, then rerouted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tool_decision, tool_result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reject, then another tool to the same host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ALERT TO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prompt_id is your best friend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145182" cy="1895323"/>
          </a:xfrm>
          <a:prstGeom prst="rect">
            <a:avLst/>
          </a:prstGeom>
          <a:solidFill>
            <a:srgbClr val="E4EE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fires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example, D2: an exfiltration-shaped command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76702" y="2194560"/>
            <a:ext cx="2145182" cy="1895323"/>
          </a:xfrm>
          <a:prstGeom prst="rect">
            <a:avLst/>
          </a:prstGeom>
          <a:solidFill>
            <a:srgbClr val="99CFF7"/>
          </a:solidFill>
          <a:ln/>
        </p:spPr>
      </p:sp>
      <p:sp>
        <p:nvSpPr>
          <p:cNvPr id="9" name="Text 7"/>
          <p:cNvSpPr/>
          <p:nvPr/>
        </p:nvSpPr>
        <p:spPr>
          <a:xfrm>
            <a:off x="3059582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59582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on the user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59582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session for that user in the window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1885" y="2194560"/>
            <a:ext cx="2145182" cy="1895323"/>
          </a:xfrm>
          <a:prstGeom prst="rect">
            <a:avLst/>
          </a:prstGeom>
          <a:solidFill>
            <a:srgbClr val="006DC7"/>
          </a:solidFill>
          <a:ln/>
        </p:spPr>
      </p:sp>
      <p:sp>
        <p:nvSpPr>
          <p:cNvPr id="13" name="Text 11"/>
          <p:cNvSpPr/>
          <p:nvPr/>
        </p:nvSpPr>
        <p:spPr>
          <a:xfrm>
            <a:off x="5204765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04765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the prompt_id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04765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event that one instruction caused, in order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67067" y="2194560"/>
            <a:ext cx="2145182" cy="1895323"/>
          </a:xfrm>
          <a:prstGeom prst="rect">
            <a:avLst/>
          </a:prstGeom>
          <a:solidFill>
            <a:srgbClr val="162FB4"/>
          </a:solidFill>
          <a:ln/>
        </p:spPr>
      </p:sp>
      <p:sp>
        <p:nvSpPr>
          <p:cNvPr id="17" name="Text 15"/>
          <p:cNvSpPr/>
          <p:nvPr/>
        </p:nvSpPr>
        <p:spPr>
          <a:xfrm>
            <a:off x="7349947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49947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trace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49947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read before it acted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12250" y="2194560"/>
            <a:ext cx="2145182" cy="1895323"/>
          </a:xfrm>
          <a:prstGeom prst="rect">
            <a:avLst/>
          </a:prstGeom>
          <a:solidFill>
            <a:srgbClr val="8212C4"/>
          </a:solidFill>
          <a:ln/>
        </p:spPr>
      </p:sp>
      <p:sp>
        <p:nvSpPr>
          <p:cNvPr id="21" name="Text 19"/>
          <p:cNvSpPr/>
          <p:nvPr/>
        </p:nvSpPr>
        <p:spPr>
          <a:xfrm>
            <a:off x="9495130" y="2423160"/>
            <a:ext cx="17794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495130" y="2679192"/>
            <a:ext cx="1779422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95130" y="3001975"/>
            <a:ext cx="1779422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 the key at the gateway, in Lab 3</a:t>
            </a:r>
            <a:endParaRPr lang="en-US" sz="1200" dirty="0"/>
          </a:p>
        </p:txBody>
      </p:sp>
      <p:pic>
        <p:nvPicPr>
          <p:cNvPr id="24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2: From event to detection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workshop/labs/02-lab-2.md and secops/detections.md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the seeded story, then run D1 to D6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on the D2 hit's prompt_id, then catch the reroute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D1 a Grafana alert rule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post your prompt_id event count in the chat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WT mono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2286000"/>
            <a:ext cx="9445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371600" y="3840480"/>
            <a:ext cx="1828800" cy="45720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5" name="Text 2"/>
          <p:cNvSpPr/>
          <p:nvPr/>
        </p:nvSpPr>
        <p:spPr>
          <a:xfrm>
            <a:off x="1371600" y="411480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339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minutes. Lab 3 starts at 1:40 on the session clock.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agentgateway is, and what it controls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1828800"/>
            <a:ext cx="18288" cy="38404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1645920"/>
            <a:ext cx="5029200" cy="2908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 source gateway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source, a Linux Foundation project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LLM, MCP and agent-to-agent traffic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works through it unchanged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30975" y="1645920"/>
            <a:ext cx="5029200" cy="2507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for SecOps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keys: no valid key, no model access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on every key: who owns it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provider key stays in the gateway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31520" y="5897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for this workshop: agentgateway v1.6.0 in front of Claude Code.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views of the same activity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1828800"/>
            <a:ext cx="18288" cy="38404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1645920"/>
            <a:ext cx="5029200" cy="302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telemetry, from the laptop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Tools, files, commands, MCP calls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from the session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switched off on an unmanaged machine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30975" y="1645920"/>
            <a:ext cx="5029200" cy="262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C0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telemetry, from the network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model request, model and tokens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from the gateway key</a:t>
            </a:r>
            <a:endParaRPr lang="en-US" sz="26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of the laptop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31520" y="5897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them on user and time. Gateway traffic with no client events is a coverage gap. Client events with no gateway traffic is a bypass.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models, scored for security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3575304"/>
                <a:gridCol w="3575304"/>
              </a:tblGrid>
              <a:tr h="502920">
                <a:tc>
                  <a:txBody>
                    <a:bodyPr/>
                    <a:lstStyle/>
                    <a:p>
                      <a:endParaRPr/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 keys on laptops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Virtual keys through a gateway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key on endpoints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on every laptop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only in the gateway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Attribution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key, in the provider console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key, mapped to a person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 and revoke each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Revoke one virtual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Blast radius of a leak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provider access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Scoped to the gateway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trail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provider console only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 logs you own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3: agentgateway as the control 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45920"/>
            <a:ext cx="10725912" cy="258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workshop/labs/03-lab-3.md. You need two terminals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agentgateway with your key, in terminal A only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Knock without a key, then run Claude Code as Alice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Alice in both streams, then revoke Bob</a:t>
            </a:r>
            <a:endParaRPr lang="en-US" sz="2200" dirty="0"/>
          </a:p>
          <a:p>
            <a:pPr algn="l" marL="274320" indent="-27432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post Bob blocked in the chat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6E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readiness checklist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/>
        </p:spPr>
      </p:sp>
      <p:pic>
        <p:nvPicPr>
          <p:cNvPr id="5" name="Image 0" descr="WWT mon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589788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2280"/>
            <a:ext cx="12188952" cy="45720"/>
          </a:xfrm>
          <a:prstGeom prst="rect">
            <a:avLst/>
          </a:prstGeom>
        </p:spPr>
      </p:pic>
      <p:graphicFrame>
        <p:nvGraphicFramePr>
          <p:cNvPr id="26" name="Table 0"/>
          <p:cNvGraphicFramePr>
            <a:graphicFrameLocks noGrp="1"/>
          </p:cNvGraphicFramePr>
          <p:nvPr>
            <p:extLst>
              <p:ext uri="{00000000-0000-4000-8000-000000000004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5362956"/>
                <a:gridCol w="536295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you scale past a pilot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73152" marB="731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08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events flow to the SIEM, locked in managed settings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 engineering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details on, with Collector redaction in place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SecOps and privacy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 on every event, including API key users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 detections tuned and alerting, plus a coverage alert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 engineering and SOC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 enforced at the network layer; revocation tested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engineering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incidents in the IR runbooks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 response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91440" marT="54864" marB="54864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every action. Control every path.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Questions. Thank you for working through it. Make a new world happen.</a:t>
            </a:r>
            <a:endParaRPr lang="en-US" sz="2200" dirty="0"/>
          </a:p>
        </p:txBody>
      </p:sp>
      <p:pic>
        <p:nvPicPr>
          <p:cNvPr id="4" name="Image 0" descr="World Wide Technolog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78606"/>
            <a:ext cx="2194560" cy="6221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0000000-0000-4000-8000-000000000006}">
      <thm15:themeFamily xmlns:thm15="http://schemas.microsoft.com/office/thememl/2012/main" name="Office Theme" id="{00000000-0000-4000-8000-000000000007}" vid="{00000000-0000-4000-8000-0000000000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World Wide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Code, Hands On</dc:title>
  <dc:subject>PptxGenJS Presentation</dc:subject>
  <dc:creator>WWT</dc:creator>
  <cp:lastModifiedBy>WWT</cp:lastModifiedBy>
  <cp:revision>1</cp:revision>
  <dcterms:created xsi:type="dcterms:W3CDTF">2026-10-01T00:00:00Z</dcterms:created>
  <dcterms:modified xsi:type="dcterms:W3CDTF">2026-10-01T00:00:00Z</dcterms:modified>
</cp:coreProperties>
</file>